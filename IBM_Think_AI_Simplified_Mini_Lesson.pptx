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911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[0:00–0:35] Hello everyone. Today I’ll explain six concepts that often appear in discussions about modern AI. The goal is not to memorize acronyms, but to understand how an AI application can move from generating text to using information and tools. My lesson is based on IBM Technology’s video, “AI Simplified: 6 Concepts You Need to Know About Modern AI.”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[0:35–1:15] A common misconception is that an AI application is just a chatbot. In practice, a system may combine a language model, instructions, retrieved information, and tools. Think of these as three questions: what generates the response, what information guides it, and what actions can it take? Keep this architecture in mind as we go through the six concepts.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[1:15–2:15] First, an LLM is like the brain of the application: it generates language based on patterns learned during training. It can summarize feedback or draft an explanation, but it does not automatically know a company’s latest sales figures. Training is the process of adjusting model parameters from examples. Fine-tuning can further adapt a model to a particular task. The key distinction is that learned capability is not the same as live, up-to-date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[2:15–3:05] RAG stands for retrieval-augmented generation. Instead of answering only from what the model learned during training, the system first retrieves relevant information—for example, a current sales report or policy—and supplies it as context. The model then generates an answer using that context. RAG can make answers more grounded, but it is not a guarantee: the source may be incomplete, outdated, or misunderstood.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[3:05–4:10] An AI agent goes beyond answering a single prompt. Within its permissions, it can coordinate multiple steps and use tools to pursue a goal. For example, it could query a sales database, calculate changes, and draft a report. MCP, or Model Context Protocol, is a standard that helps AI applications connect to tools and data sources. Remember the difference: the agent coordinates work; MCP helps expose tool capabilities. Neither removes the need for permissions and oversight.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[4:10–5:15] A system prompt provides high-priority instructions about the assistant’s role, behavior, and constraints. For a business analyst, it might say to use approved data and disclose when evidence is missing. But prompts alone are not a complete security mechanism. Prompt injection is an attempt to manipulate the model through untrusted input. Safer systems use layered protections: least-privilege access, input validation, careful tool design, privacy controls, and review of consequential outputs.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[5:15–6:35] Let’s put the concepts together. Imagine a manager asks why sales fell last month. The LLM interprets the question; training gives it general capabilities; RAG retrieves current reports; an agent coordinates the analysis; MCP makes approved data tools accessible; and the system prompt sets boundaries. The output should still be checked against the underlying evidence. This example shows why a useful AI application is a system of components, not a magic answer box.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Oval 1"/>
          <p:cNvSpPr/>
          <p:nvPr/>
        </p:nvSpPr>
        <p:spPr>
          <a:xfrm>
            <a:off x="9601200" y="1188720"/>
            <a:ext cx="292608" cy="292608"/>
          </a:xfrm>
          <a:prstGeom prst="ellipse">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698480" y="1920240"/>
            <a:ext cx="201168" cy="201168"/>
          </a:xfrm>
          <a:prstGeom prst="ellipse">
            <a:avLst/>
          </a:prstGeom>
          <a:solidFill>
            <a:srgbClr val="0F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35440" y="27432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789920" y="3749039"/>
            <a:ext cx="274320" cy="2743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0" y="4572000"/>
            <a:ext cx="201168" cy="201168"/>
          </a:xfrm>
          <a:prstGeom prst="ellipse">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9747504" y="1417320"/>
            <a:ext cx="996696" cy="59436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326880" y="1463040"/>
            <a:ext cx="320040" cy="1325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835640" y="2103120"/>
            <a:ext cx="45720" cy="169164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052560" y="2926080"/>
            <a:ext cx="274320" cy="173736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235440" y="3886200"/>
            <a:ext cx="1645920" cy="77724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3232" y="640080"/>
            <a:ext cx="7498079" cy="320040"/>
          </a:xfrm>
          <a:prstGeom prst="rect">
            <a:avLst/>
          </a:prstGeom>
          <a:noFill/>
        </p:spPr>
        <p:txBody>
          <a:bodyPr wrap="square" lIns="45720" rIns="45720" anchor="t">
            <a:spAutoFit/>
          </a:bodyPr>
          <a:lstStyle/>
          <a:p>
            <a:pPr>
              <a:defRPr sz="1200" b="1">
                <a:solidFill>
                  <a:srgbClr val="48D1CC"/>
                </a:solidFill>
                <a:latin typeface="Aptos"/>
              </a:defRPr>
            </a:pPr>
            <a:r>
              <a:t>7-MINUTE MINI-LESSON  •  IBM TECHNOLOGY</a:t>
            </a:r>
          </a:p>
        </p:txBody>
      </p:sp>
      <p:sp>
        <p:nvSpPr>
          <p:cNvPr id="13" name="TextBox 12"/>
          <p:cNvSpPr txBox="1"/>
          <p:nvPr/>
        </p:nvSpPr>
        <p:spPr>
          <a:xfrm>
            <a:off x="713232" y="1417320"/>
            <a:ext cx="7863840" cy="1508760"/>
          </a:xfrm>
          <a:prstGeom prst="rect">
            <a:avLst/>
          </a:prstGeom>
          <a:noFill/>
        </p:spPr>
        <p:txBody>
          <a:bodyPr wrap="square" lIns="45720" rIns="45720" anchor="t">
            <a:spAutoFit/>
          </a:bodyPr>
          <a:lstStyle/>
          <a:p>
            <a:pPr>
              <a:defRPr sz="4000" b="1">
                <a:solidFill>
                  <a:srgbClr val="FFFFFF"/>
                </a:solidFill>
                <a:latin typeface="Aptos"/>
              </a:defRPr>
            </a:pPr>
            <a:r>
              <a:t>Understanding</a:t>
            </a:r>
            <a:br/>
            <a:r>
              <a:t>Modern AI</a:t>
            </a:r>
          </a:p>
        </p:txBody>
      </p:sp>
      <p:sp>
        <p:nvSpPr>
          <p:cNvPr id="14" name="TextBox 13"/>
          <p:cNvSpPr txBox="1"/>
          <p:nvPr/>
        </p:nvSpPr>
        <p:spPr>
          <a:xfrm>
            <a:off x="749808" y="3246120"/>
            <a:ext cx="7223760" cy="685800"/>
          </a:xfrm>
          <a:prstGeom prst="rect">
            <a:avLst/>
          </a:prstGeom>
          <a:noFill/>
        </p:spPr>
        <p:txBody>
          <a:bodyPr wrap="square" lIns="45720" rIns="45720" anchor="t">
            <a:spAutoFit/>
          </a:bodyPr>
          <a:lstStyle/>
          <a:p>
            <a:pPr>
              <a:defRPr sz="2000" b="0">
                <a:solidFill>
                  <a:srgbClr val="CBD5E1"/>
                </a:solidFill>
                <a:latin typeface="Aptos"/>
              </a:defRPr>
            </a:pPr>
            <a:r>
              <a:t>Six essential concepts explained through simple human analogies</a:t>
            </a:r>
          </a:p>
        </p:txBody>
      </p:sp>
      <p:sp>
        <p:nvSpPr>
          <p:cNvPr id="15" name="TextBox 14"/>
          <p:cNvSpPr txBox="1"/>
          <p:nvPr/>
        </p:nvSpPr>
        <p:spPr>
          <a:xfrm>
            <a:off x="749808" y="4709160"/>
            <a:ext cx="6858000" cy="411480"/>
          </a:xfrm>
          <a:prstGeom prst="rect">
            <a:avLst/>
          </a:prstGeom>
          <a:noFill/>
        </p:spPr>
        <p:txBody>
          <a:bodyPr wrap="square" lIns="45720" rIns="45720" anchor="t">
            <a:spAutoFit/>
          </a:bodyPr>
          <a:lstStyle/>
          <a:p>
            <a:pPr>
              <a:defRPr sz="1300" b="1">
                <a:solidFill>
                  <a:srgbClr val="48D1CC"/>
                </a:solidFill>
                <a:latin typeface="Aptos"/>
              </a:defRPr>
            </a:pPr>
            <a:r>
              <a:t>LLMs  •  Training  •  RAG  •  Agents  •  MCP  •  System Prompts</a:t>
            </a:r>
          </a:p>
        </p:txBody>
      </p:sp>
      <p:sp>
        <p:nvSpPr>
          <p:cNvPr id="16" name="TextBox 15"/>
          <p:cNvSpPr txBox="1"/>
          <p:nvPr/>
        </p:nvSpPr>
        <p:spPr>
          <a:xfrm>
            <a:off x="749808" y="5989320"/>
            <a:ext cx="7132320" cy="274320"/>
          </a:xfrm>
          <a:prstGeom prst="rect">
            <a:avLst/>
          </a:prstGeom>
          <a:noFill/>
        </p:spPr>
        <p:txBody>
          <a:bodyPr wrap="square" lIns="45720" rIns="45720" anchor="t">
            <a:spAutoFit/>
          </a:bodyPr>
          <a:lstStyle/>
          <a:p>
            <a:pPr>
              <a:defRPr sz="1000" b="0">
                <a:solidFill>
                  <a:srgbClr val="94A3B8"/>
                </a:solidFill>
                <a:latin typeface="Aptos"/>
              </a:defRPr>
            </a:pPr>
            <a:r>
              <a:t>Source video: “AI Simplified: 6 Concepts You Need to Know About Modern AI”</a:t>
            </a:r>
          </a:p>
        </p:txBody>
      </p:sp>
      <p:sp>
        <p:nvSpPr>
          <p:cNvPr id="17" name="TextBox 16"/>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18" name="TextBox 17"/>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01 / 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789920" cy="228600"/>
          </a:xfrm>
          <a:prstGeom prst="rect">
            <a:avLst/>
          </a:prstGeom>
          <a:noFill/>
        </p:spPr>
        <p:txBody>
          <a:bodyPr wrap="square" lIns="45720" rIns="45720" anchor="t">
            <a:spAutoFit/>
          </a:bodyPr>
          <a:lstStyle/>
          <a:p>
            <a:pPr>
              <a:defRPr sz="1000" b="1">
                <a:solidFill>
                  <a:srgbClr val="48D1CC"/>
                </a:solidFill>
                <a:latin typeface="Aptos"/>
              </a:defRPr>
            </a:pPr>
            <a:r>
              <a:t>01 • THE BIG IDEA</a:t>
            </a:r>
          </a:p>
        </p:txBody>
      </p:sp>
      <p:sp>
        <p:nvSpPr>
          <p:cNvPr id="3" name="TextBox 2"/>
          <p:cNvSpPr txBox="1"/>
          <p:nvPr/>
        </p:nvSpPr>
        <p:spPr>
          <a:xfrm>
            <a:off x="640080" y="713232"/>
            <a:ext cx="10972800" cy="640080"/>
          </a:xfrm>
          <a:prstGeom prst="rect">
            <a:avLst/>
          </a:prstGeom>
          <a:noFill/>
        </p:spPr>
        <p:txBody>
          <a:bodyPr wrap="square" lIns="45720" rIns="45720" anchor="t">
            <a:spAutoFit/>
          </a:bodyPr>
          <a:lstStyle/>
          <a:p>
            <a:pPr>
              <a:defRPr sz="2900" b="1">
                <a:solidFill>
                  <a:srgbClr val="FFFFFF"/>
                </a:solidFill>
                <a:latin typeface="Aptos"/>
              </a:defRPr>
            </a:pPr>
            <a:r>
              <a:t>Modern AI is a system—not just a chatbot</a:t>
            </a:r>
          </a:p>
        </p:txBody>
      </p:sp>
      <p:sp>
        <p:nvSpPr>
          <p:cNvPr id="4" name="TextBox 3"/>
          <p:cNvSpPr txBox="1"/>
          <p:nvPr/>
        </p:nvSpPr>
        <p:spPr>
          <a:xfrm>
            <a:off x="658368" y="1389888"/>
            <a:ext cx="10607040" cy="411480"/>
          </a:xfrm>
          <a:prstGeom prst="rect">
            <a:avLst/>
          </a:prstGeom>
          <a:noFill/>
        </p:spPr>
        <p:txBody>
          <a:bodyPr wrap="square" lIns="45720" rIns="45720" anchor="t">
            <a:spAutoFit/>
          </a:bodyPr>
          <a:lstStyle/>
          <a:p>
            <a:pPr>
              <a:defRPr sz="1400" b="0">
                <a:solidFill>
                  <a:srgbClr val="CBD5E1"/>
                </a:solidFill>
                <a:latin typeface="Aptos"/>
              </a:defRPr>
            </a:pPr>
            <a:r>
              <a:t>Six building blocks help explain how an AI application understands, retrieves, and acts.</a:t>
            </a:r>
          </a:p>
        </p:txBody>
      </p:sp>
      <p:sp>
        <p:nvSpPr>
          <p:cNvPr id="5" name="Rounded Rectangle 4"/>
          <p:cNvSpPr/>
          <p:nvPr/>
        </p:nvSpPr>
        <p:spPr>
          <a:xfrm>
            <a:off x="685800" y="2148840"/>
            <a:ext cx="3429000" cy="2423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148840"/>
            <a:ext cx="73152" cy="2423160"/>
          </a:xfrm>
          <a:prstGeom prst="rect">
            <a:avLst/>
          </a:prstGeom>
          <a:solidFill>
            <a:srgbClr val="0F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331720"/>
            <a:ext cx="3063240" cy="365760"/>
          </a:xfrm>
          <a:prstGeom prst="rect">
            <a:avLst/>
          </a:prstGeom>
          <a:noFill/>
        </p:spPr>
        <p:txBody>
          <a:bodyPr wrap="square" lIns="45720" rIns="45720" anchor="t">
            <a:spAutoFit/>
          </a:bodyPr>
          <a:lstStyle/>
          <a:p>
            <a:pPr>
              <a:defRPr sz="1700" b="1">
                <a:solidFill>
                  <a:srgbClr val="FFFFFF"/>
                </a:solidFill>
                <a:latin typeface="Aptos"/>
              </a:defRPr>
            </a:pPr>
            <a:r>
              <a:t>1  MODEL</a:t>
            </a:r>
          </a:p>
        </p:txBody>
      </p:sp>
      <p:sp>
        <p:nvSpPr>
          <p:cNvPr id="8" name="TextBox 7"/>
          <p:cNvSpPr txBox="1"/>
          <p:nvPr/>
        </p:nvSpPr>
        <p:spPr>
          <a:xfrm>
            <a:off x="886968" y="2807208"/>
            <a:ext cx="3044952" cy="1673352"/>
          </a:xfrm>
          <a:prstGeom prst="rect">
            <a:avLst/>
          </a:prstGeom>
          <a:noFill/>
        </p:spPr>
        <p:txBody>
          <a:bodyPr wrap="square" lIns="45720" rIns="45720" anchor="t">
            <a:spAutoFit/>
          </a:bodyPr>
          <a:lstStyle/>
          <a:p>
            <a:pPr>
              <a:defRPr sz="1600" b="0">
                <a:solidFill>
                  <a:srgbClr val="CBD5E1"/>
                </a:solidFill>
                <a:latin typeface="Aptos"/>
              </a:defRPr>
            </a:pPr>
            <a:r>
              <a:t>The language model generates a response from patterns learned during training.</a:t>
            </a:r>
          </a:p>
        </p:txBody>
      </p:sp>
      <p:sp>
        <p:nvSpPr>
          <p:cNvPr id="9" name="Rounded Rectangle 8"/>
          <p:cNvSpPr/>
          <p:nvPr/>
        </p:nvSpPr>
        <p:spPr>
          <a:xfrm>
            <a:off x="4370832" y="2148840"/>
            <a:ext cx="3429000" cy="2423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832" y="2148840"/>
            <a:ext cx="73152" cy="2423160"/>
          </a:xfrm>
          <a:prstGeom prst="rect">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2331720"/>
            <a:ext cx="3063240" cy="365760"/>
          </a:xfrm>
          <a:prstGeom prst="rect">
            <a:avLst/>
          </a:prstGeom>
          <a:noFill/>
        </p:spPr>
        <p:txBody>
          <a:bodyPr wrap="square" lIns="45720" rIns="45720" anchor="t">
            <a:spAutoFit/>
          </a:bodyPr>
          <a:lstStyle/>
          <a:p>
            <a:pPr>
              <a:defRPr sz="1700" b="1">
                <a:solidFill>
                  <a:srgbClr val="FFFFFF"/>
                </a:solidFill>
                <a:latin typeface="Aptos"/>
              </a:defRPr>
            </a:pPr>
            <a:r>
              <a:t>2  CONTEXT</a:t>
            </a:r>
          </a:p>
        </p:txBody>
      </p:sp>
      <p:sp>
        <p:nvSpPr>
          <p:cNvPr id="12" name="TextBox 11"/>
          <p:cNvSpPr txBox="1"/>
          <p:nvPr/>
        </p:nvSpPr>
        <p:spPr>
          <a:xfrm>
            <a:off x="4572000" y="2807208"/>
            <a:ext cx="3044952" cy="1673352"/>
          </a:xfrm>
          <a:prstGeom prst="rect">
            <a:avLst/>
          </a:prstGeom>
          <a:noFill/>
        </p:spPr>
        <p:txBody>
          <a:bodyPr wrap="square" lIns="45720" rIns="45720" anchor="t">
            <a:spAutoFit/>
          </a:bodyPr>
          <a:lstStyle/>
          <a:p>
            <a:pPr>
              <a:defRPr sz="1600" b="0">
                <a:solidFill>
                  <a:srgbClr val="CBD5E1"/>
                </a:solidFill>
                <a:latin typeface="Aptos"/>
              </a:defRPr>
            </a:pPr>
            <a:r>
              <a:t>Prompts and retrieved information guide the response toward the task.</a:t>
            </a:r>
          </a:p>
        </p:txBody>
      </p:sp>
      <p:sp>
        <p:nvSpPr>
          <p:cNvPr id="13" name="Rounded Rectangle 12"/>
          <p:cNvSpPr/>
          <p:nvPr/>
        </p:nvSpPr>
        <p:spPr>
          <a:xfrm>
            <a:off x="8055864" y="2148840"/>
            <a:ext cx="3429000" cy="2423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55864" y="2148840"/>
            <a:ext cx="73152" cy="2423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2331720"/>
            <a:ext cx="3063240" cy="365760"/>
          </a:xfrm>
          <a:prstGeom prst="rect">
            <a:avLst/>
          </a:prstGeom>
          <a:noFill/>
        </p:spPr>
        <p:txBody>
          <a:bodyPr wrap="square" lIns="45720" rIns="45720" anchor="t">
            <a:spAutoFit/>
          </a:bodyPr>
          <a:lstStyle/>
          <a:p>
            <a:pPr>
              <a:defRPr sz="1700" b="1">
                <a:solidFill>
                  <a:srgbClr val="FFFFFF"/>
                </a:solidFill>
                <a:latin typeface="Aptos"/>
              </a:defRPr>
            </a:pPr>
            <a:r>
              <a:t>3  ACTION</a:t>
            </a:r>
          </a:p>
        </p:txBody>
      </p:sp>
      <p:sp>
        <p:nvSpPr>
          <p:cNvPr id="16" name="TextBox 15"/>
          <p:cNvSpPr txBox="1"/>
          <p:nvPr/>
        </p:nvSpPr>
        <p:spPr>
          <a:xfrm>
            <a:off x="8257032" y="2807208"/>
            <a:ext cx="3044952" cy="1673352"/>
          </a:xfrm>
          <a:prstGeom prst="rect">
            <a:avLst/>
          </a:prstGeom>
          <a:noFill/>
        </p:spPr>
        <p:txBody>
          <a:bodyPr wrap="square" lIns="45720" rIns="45720" anchor="t">
            <a:spAutoFit/>
          </a:bodyPr>
          <a:lstStyle/>
          <a:p>
            <a:pPr>
              <a:defRPr sz="1600" b="0">
                <a:solidFill>
                  <a:srgbClr val="CBD5E1"/>
                </a:solidFill>
                <a:latin typeface="Aptos"/>
              </a:defRPr>
            </a:pPr>
            <a:r>
              <a:t>Agents and tool connections can help the system do work—not only talk.</a:t>
            </a:r>
          </a:p>
        </p:txBody>
      </p:sp>
      <p:sp>
        <p:nvSpPr>
          <p:cNvPr id="17" name="TextBox 16"/>
          <p:cNvSpPr txBox="1"/>
          <p:nvPr/>
        </p:nvSpPr>
        <p:spPr>
          <a:xfrm>
            <a:off x="914400" y="5074920"/>
            <a:ext cx="10332720" cy="640080"/>
          </a:xfrm>
          <a:prstGeom prst="rect">
            <a:avLst/>
          </a:prstGeom>
          <a:noFill/>
        </p:spPr>
        <p:txBody>
          <a:bodyPr wrap="square" lIns="45720" rIns="45720" anchor="t">
            <a:spAutoFit/>
          </a:bodyPr>
          <a:lstStyle/>
          <a:p>
            <a:pPr>
              <a:defRPr sz="2000" b="1">
                <a:solidFill>
                  <a:srgbClr val="FFFFFF"/>
                </a:solidFill>
                <a:latin typeface="Aptos"/>
              </a:defRPr>
            </a:pPr>
            <a:r>
              <a:t>Teaching question: What must an AI system have to answer a question using a company’s latest sales data?</a:t>
            </a:r>
          </a:p>
        </p:txBody>
      </p:sp>
      <p:sp>
        <p:nvSpPr>
          <p:cNvPr id="18" name="TextBox 17"/>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19" name="TextBox 18"/>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02 / 07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789920" cy="228600"/>
          </a:xfrm>
          <a:prstGeom prst="rect">
            <a:avLst/>
          </a:prstGeom>
          <a:noFill/>
        </p:spPr>
        <p:txBody>
          <a:bodyPr wrap="square" lIns="45720" rIns="45720" anchor="t">
            <a:spAutoFit/>
          </a:bodyPr>
          <a:lstStyle/>
          <a:p>
            <a:pPr>
              <a:defRPr sz="1000" b="1">
                <a:solidFill>
                  <a:srgbClr val="48D1CC"/>
                </a:solidFill>
                <a:latin typeface="Aptos"/>
              </a:defRPr>
            </a:pPr>
            <a:r>
              <a:t>02 • THE MODEL</a:t>
            </a:r>
          </a:p>
        </p:txBody>
      </p:sp>
      <p:sp>
        <p:nvSpPr>
          <p:cNvPr id="3" name="TextBox 2"/>
          <p:cNvSpPr txBox="1"/>
          <p:nvPr/>
        </p:nvSpPr>
        <p:spPr>
          <a:xfrm>
            <a:off x="640080" y="713232"/>
            <a:ext cx="10972800" cy="640080"/>
          </a:xfrm>
          <a:prstGeom prst="rect">
            <a:avLst/>
          </a:prstGeom>
          <a:noFill/>
        </p:spPr>
        <p:txBody>
          <a:bodyPr wrap="square" lIns="45720" rIns="45720" anchor="t">
            <a:spAutoFit/>
          </a:bodyPr>
          <a:lstStyle/>
          <a:p>
            <a:pPr>
              <a:defRPr sz="2900" b="1">
                <a:solidFill>
                  <a:srgbClr val="FFFFFF"/>
                </a:solidFill>
                <a:latin typeface="Aptos"/>
              </a:defRPr>
            </a:pPr>
            <a:r>
              <a:t>LLMs &amp; model training</a:t>
            </a:r>
          </a:p>
        </p:txBody>
      </p:sp>
      <p:sp>
        <p:nvSpPr>
          <p:cNvPr id="4" name="TextBox 3"/>
          <p:cNvSpPr txBox="1"/>
          <p:nvPr/>
        </p:nvSpPr>
        <p:spPr>
          <a:xfrm>
            <a:off x="658368" y="1389888"/>
            <a:ext cx="10607040" cy="411480"/>
          </a:xfrm>
          <a:prstGeom prst="rect">
            <a:avLst/>
          </a:prstGeom>
          <a:noFill/>
        </p:spPr>
        <p:txBody>
          <a:bodyPr wrap="square" lIns="45720" rIns="45720" anchor="t">
            <a:spAutoFit/>
          </a:bodyPr>
          <a:lstStyle/>
          <a:p>
            <a:pPr>
              <a:defRPr sz="1400" b="0">
                <a:solidFill>
                  <a:srgbClr val="CBD5E1"/>
                </a:solidFill>
                <a:latin typeface="Aptos"/>
              </a:defRPr>
            </a:pPr>
            <a:r>
              <a:t>Analogy: the brain—and the learning that shaped it.</a:t>
            </a:r>
          </a:p>
        </p:txBody>
      </p:sp>
      <p:sp>
        <p:nvSpPr>
          <p:cNvPr id="5" name="Rounded Rectangle 4"/>
          <p:cNvSpPr/>
          <p:nvPr/>
        </p:nvSpPr>
        <p:spPr>
          <a:xfrm>
            <a:off x="685800" y="2011680"/>
            <a:ext cx="5257800" cy="2880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011680"/>
            <a:ext cx="73152" cy="2880360"/>
          </a:xfrm>
          <a:prstGeom prst="rect">
            <a:avLst/>
          </a:prstGeom>
          <a:solidFill>
            <a:srgbClr val="0F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194560"/>
            <a:ext cx="4892040" cy="365760"/>
          </a:xfrm>
          <a:prstGeom prst="rect">
            <a:avLst/>
          </a:prstGeom>
          <a:noFill/>
        </p:spPr>
        <p:txBody>
          <a:bodyPr wrap="square" lIns="45720" rIns="45720" anchor="t">
            <a:spAutoFit/>
          </a:bodyPr>
          <a:lstStyle/>
          <a:p>
            <a:pPr>
              <a:defRPr sz="1700" b="1">
                <a:solidFill>
                  <a:srgbClr val="FFFFFF"/>
                </a:solidFill>
                <a:latin typeface="Aptos"/>
              </a:defRPr>
            </a:pPr>
            <a:r>
              <a:t>LLM = THE “BRAIN”</a:t>
            </a:r>
          </a:p>
        </p:txBody>
      </p:sp>
      <p:sp>
        <p:nvSpPr>
          <p:cNvPr id="8" name="TextBox 7"/>
          <p:cNvSpPr txBox="1"/>
          <p:nvPr/>
        </p:nvSpPr>
        <p:spPr>
          <a:xfrm>
            <a:off x="886968" y="2670048"/>
            <a:ext cx="4873752" cy="2130552"/>
          </a:xfrm>
          <a:prstGeom prst="rect">
            <a:avLst/>
          </a:prstGeom>
          <a:noFill/>
        </p:spPr>
        <p:txBody>
          <a:bodyPr wrap="square" lIns="45720" rIns="45720" anchor="t">
            <a:spAutoFit/>
          </a:bodyPr>
          <a:lstStyle/>
          <a:p>
            <a:pPr>
              <a:defRPr sz="1700" b="0">
                <a:solidFill>
                  <a:srgbClr val="CBD5E1"/>
                </a:solidFill>
                <a:latin typeface="Aptos"/>
              </a:defRPr>
            </a:pPr>
            <a:r>
              <a:t>A large language model predicts and generates language based on patterns learned from data.</a:t>
            </a:r>
            <a:br/>
            <a:br/>
            <a:r>
              <a:t>It can explain, summarize, classify, and draft—but it can still make mistakes.</a:t>
            </a:r>
          </a:p>
        </p:txBody>
      </p:sp>
      <p:sp>
        <p:nvSpPr>
          <p:cNvPr id="9" name="Rounded Rectangle 8"/>
          <p:cNvSpPr/>
          <p:nvPr/>
        </p:nvSpPr>
        <p:spPr>
          <a:xfrm>
            <a:off x="6217920" y="2011680"/>
            <a:ext cx="5257800" cy="2880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2011680"/>
            <a:ext cx="73152" cy="2880360"/>
          </a:xfrm>
          <a:prstGeom prst="rect">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194560"/>
            <a:ext cx="4892040" cy="365760"/>
          </a:xfrm>
          <a:prstGeom prst="rect">
            <a:avLst/>
          </a:prstGeom>
          <a:noFill/>
        </p:spPr>
        <p:txBody>
          <a:bodyPr wrap="square" lIns="45720" rIns="45720" anchor="t">
            <a:spAutoFit/>
          </a:bodyPr>
          <a:lstStyle/>
          <a:p>
            <a:pPr>
              <a:defRPr sz="1700" b="1">
                <a:solidFill>
                  <a:srgbClr val="FFFFFF"/>
                </a:solidFill>
                <a:latin typeface="Aptos"/>
              </a:defRPr>
            </a:pPr>
            <a:r>
              <a:t>TRAINING = LEARNING</a:t>
            </a:r>
          </a:p>
        </p:txBody>
      </p:sp>
      <p:sp>
        <p:nvSpPr>
          <p:cNvPr id="12" name="TextBox 11"/>
          <p:cNvSpPr txBox="1"/>
          <p:nvPr/>
        </p:nvSpPr>
        <p:spPr>
          <a:xfrm>
            <a:off x="6419088" y="2670048"/>
            <a:ext cx="4873752" cy="2130552"/>
          </a:xfrm>
          <a:prstGeom prst="rect">
            <a:avLst/>
          </a:prstGeom>
          <a:noFill/>
        </p:spPr>
        <p:txBody>
          <a:bodyPr wrap="square" lIns="45720" rIns="45720" anchor="t">
            <a:spAutoFit/>
          </a:bodyPr>
          <a:lstStyle/>
          <a:p>
            <a:pPr>
              <a:defRPr sz="1700" b="0">
                <a:solidFill>
                  <a:srgbClr val="CBD5E1"/>
                </a:solidFill>
                <a:latin typeface="Aptos"/>
              </a:defRPr>
            </a:pPr>
            <a:r>
              <a:t>Training adjusts model parameters using examples. Fine-tuning can adapt a model to a narrower task.</a:t>
            </a:r>
            <a:br/>
            <a:br/>
            <a:r>
              <a:t>Training is not the same as looking up a live database.</a:t>
            </a:r>
          </a:p>
        </p:txBody>
      </p:sp>
      <p:sp>
        <p:nvSpPr>
          <p:cNvPr id="13" name="TextBox 12"/>
          <p:cNvSpPr txBox="1"/>
          <p:nvPr/>
        </p:nvSpPr>
        <p:spPr>
          <a:xfrm>
            <a:off x="822960" y="5349240"/>
            <a:ext cx="10607040" cy="502920"/>
          </a:xfrm>
          <a:prstGeom prst="rect">
            <a:avLst/>
          </a:prstGeom>
          <a:noFill/>
        </p:spPr>
        <p:txBody>
          <a:bodyPr wrap="square" lIns="45720" rIns="45720" anchor="t">
            <a:spAutoFit/>
          </a:bodyPr>
          <a:lstStyle/>
          <a:p>
            <a:pPr>
              <a:defRPr sz="1800" b="1">
                <a:solidFill>
                  <a:srgbClr val="FFFFFF"/>
                </a:solidFill>
                <a:latin typeface="Aptos"/>
              </a:defRPr>
            </a:pPr>
            <a:r>
              <a:t>Business example: a model can summarize customer feedback, but it does not automatically know today’s sales figures.</a:t>
            </a:r>
          </a:p>
        </p:txBody>
      </p:sp>
      <p:sp>
        <p:nvSpPr>
          <p:cNvPr id="14" name="TextBox 13"/>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15" name="TextBox 14"/>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03 / 07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789920" cy="228600"/>
          </a:xfrm>
          <a:prstGeom prst="rect">
            <a:avLst/>
          </a:prstGeom>
          <a:noFill/>
        </p:spPr>
        <p:txBody>
          <a:bodyPr wrap="square" lIns="45720" rIns="45720" anchor="t">
            <a:spAutoFit/>
          </a:bodyPr>
          <a:lstStyle/>
          <a:p>
            <a:pPr>
              <a:defRPr sz="1000" b="1">
                <a:solidFill>
                  <a:srgbClr val="48D1CC"/>
                </a:solidFill>
                <a:latin typeface="Aptos"/>
              </a:defRPr>
            </a:pPr>
            <a:r>
              <a:t>03 • ADDING KNOWLEDGE</a:t>
            </a:r>
          </a:p>
        </p:txBody>
      </p:sp>
      <p:sp>
        <p:nvSpPr>
          <p:cNvPr id="3" name="TextBox 2"/>
          <p:cNvSpPr txBox="1"/>
          <p:nvPr/>
        </p:nvSpPr>
        <p:spPr>
          <a:xfrm>
            <a:off x="640080" y="713232"/>
            <a:ext cx="10972800" cy="640080"/>
          </a:xfrm>
          <a:prstGeom prst="rect">
            <a:avLst/>
          </a:prstGeom>
          <a:noFill/>
        </p:spPr>
        <p:txBody>
          <a:bodyPr wrap="square" lIns="45720" rIns="45720" anchor="t">
            <a:spAutoFit/>
          </a:bodyPr>
          <a:lstStyle/>
          <a:p>
            <a:pPr>
              <a:defRPr sz="2900" b="1">
                <a:solidFill>
                  <a:srgbClr val="FFFFFF"/>
                </a:solidFill>
                <a:latin typeface="Aptos"/>
              </a:defRPr>
            </a:pPr>
            <a:r>
              <a:t>RAG: retrieve first, then generate</a:t>
            </a:r>
          </a:p>
        </p:txBody>
      </p:sp>
      <p:sp>
        <p:nvSpPr>
          <p:cNvPr id="4" name="TextBox 3"/>
          <p:cNvSpPr txBox="1"/>
          <p:nvPr/>
        </p:nvSpPr>
        <p:spPr>
          <a:xfrm>
            <a:off x="658368" y="1389888"/>
            <a:ext cx="10607040" cy="411480"/>
          </a:xfrm>
          <a:prstGeom prst="rect">
            <a:avLst/>
          </a:prstGeom>
          <a:noFill/>
        </p:spPr>
        <p:txBody>
          <a:bodyPr wrap="square" lIns="45720" rIns="45720" anchor="t">
            <a:spAutoFit/>
          </a:bodyPr>
          <a:lstStyle/>
          <a:p>
            <a:pPr>
              <a:defRPr sz="1400" b="0">
                <a:solidFill>
                  <a:srgbClr val="CBD5E1"/>
                </a:solidFill>
                <a:latin typeface="Aptos"/>
              </a:defRPr>
            </a:pPr>
            <a:r>
              <a:t>Analogy: checking the right reference book before answering.</a:t>
            </a:r>
          </a:p>
        </p:txBody>
      </p:sp>
      <p:sp>
        <p:nvSpPr>
          <p:cNvPr id="5" name="Rounded Rectangle 4"/>
          <p:cNvSpPr/>
          <p:nvPr/>
        </p:nvSpPr>
        <p:spPr>
          <a:xfrm>
            <a:off x="731520" y="2331720"/>
            <a:ext cx="1874519" cy="1097280"/>
          </a:xfrm>
          <a:prstGeom prst="roundRect">
            <a:avLst/>
          </a:prstGeom>
          <a:solidFill>
            <a:srgbClr val="1E293B"/>
          </a:solidFill>
          <a:ln w="25400">
            <a:solidFill>
              <a:srgbClr val="0F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615184"/>
            <a:ext cx="1691640" cy="502920"/>
          </a:xfrm>
          <a:prstGeom prst="rect">
            <a:avLst/>
          </a:prstGeom>
          <a:noFill/>
        </p:spPr>
        <p:txBody>
          <a:bodyPr wrap="square" lIns="45720" rIns="45720" anchor="ctr">
            <a:spAutoFit/>
          </a:bodyPr>
          <a:lstStyle/>
          <a:p>
            <a:pPr algn="ctr">
              <a:defRPr sz="1400" b="1">
                <a:solidFill>
                  <a:srgbClr val="FFFFFF"/>
                </a:solidFill>
                <a:latin typeface="Aptos"/>
              </a:defRPr>
            </a:pPr>
            <a:r>
              <a:t>QUESTION</a:t>
            </a:r>
          </a:p>
        </p:txBody>
      </p:sp>
      <p:sp>
        <p:nvSpPr>
          <p:cNvPr id="7" name="Rounded Rectangle 6"/>
          <p:cNvSpPr/>
          <p:nvPr/>
        </p:nvSpPr>
        <p:spPr>
          <a:xfrm>
            <a:off x="3017520" y="2331720"/>
            <a:ext cx="1874519" cy="1097280"/>
          </a:xfrm>
          <a:prstGeom prst="roundRect">
            <a:avLst/>
          </a:prstGeom>
          <a:solidFill>
            <a:srgbClr val="1E293B"/>
          </a:solidFill>
          <a:ln w="25400">
            <a:solidFill>
              <a:srgbClr val="48D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0" y="2615184"/>
            <a:ext cx="1691640" cy="502920"/>
          </a:xfrm>
          <a:prstGeom prst="rect">
            <a:avLst/>
          </a:prstGeom>
          <a:noFill/>
        </p:spPr>
        <p:txBody>
          <a:bodyPr wrap="square" lIns="45720" rIns="45720" anchor="ctr">
            <a:spAutoFit/>
          </a:bodyPr>
          <a:lstStyle/>
          <a:p>
            <a:pPr algn="ctr">
              <a:defRPr sz="1400" b="1">
                <a:solidFill>
                  <a:srgbClr val="FFFFFF"/>
                </a:solidFill>
                <a:latin typeface="Aptos"/>
              </a:defRPr>
            </a:pPr>
            <a:r>
              <a:t>RETRIEVE</a:t>
            </a:r>
            <a:br/>
            <a:r>
              <a:t>RELEVANT DATA</a:t>
            </a:r>
          </a:p>
        </p:txBody>
      </p:sp>
      <p:sp>
        <p:nvSpPr>
          <p:cNvPr id="9" name="Rounded Rectangle 8"/>
          <p:cNvSpPr/>
          <p:nvPr/>
        </p:nvSpPr>
        <p:spPr>
          <a:xfrm>
            <a:off x="5486400" y="2331720"/>
            <a:ext cx="1874519" cy="109728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7840" y="2615184"/>
            <a:ext cx="1691640" cy="502920"/>
          </a:xfrm>
          <a:prstGeom prst="rect">
            <a:avLst/>
          </a:prstGeom>
          <a:noFill/>
        </p:spPr>
        <p:txBody>
          <a:bodyPr wrap="square" lIns="45720" rIns="45720" anchor="ctr">
            <a:spAutoFit/>
          </a:bodyPr>
          <a:lstStyle/>
          <a:p>
            <a:pPr algn="ctr">
              <a:defRPr sz="1400" b="1">
                <a:solidFill>
                  <a:srgbClr val="FFFFFF"/>
                </a:solidFill>
                <a:latin typeface="Aptos"/>
              </a:defRPr>
            </a:pPr>
            <a:r>
              <a:t>ADD CONTEXT</a:t>
            </a:r>
          </a:p>
        </p:txBody>
      </p:sp>
      <p:sp>
        <p:nvSpPr>
          <p:cNvPr id="11" name="Rounded Rectangle 10"/>
          <p:cNvSpPr/>
          <p:nvPr/>
        </p:nvSpPr>
        <p:spPr>
          <a:xfrm>
            <a:off x="7955279" y="2331720"/>
            <a:ext cx="1874519" cy="109728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2615184"/>
            <a:ext cx="1691640" cy="502920"/>
          </a:xfrm>
          <a:prstGeom prst="rect">
            <a:avLst/>
          </a:prstGeom>
          <a:noFill/>
        </p:spPr>
        <p:txBody>
          <a:bodyPr wrap="square" lIns="45720" rIns="45720" anchor="ctr">
            <a:spAutoFit/>
          </a:bodyPr>
          <a:lstStyle/>
          <a:p>
            <a:pPr algn="ctr">
              <a:defRPr sz="1400" b="1">
                <a:solidFill>
                  <a:srgbClr val="FFFFFF"/>
                </a:solidFill>
                <a:latin typeface="Aptos"/>
              </a:defRPr>
            </a:pPr>
            <a:r>
              <a:t>GENERATE</a:t>
            </a:r>
            <a:br/>
            <a:r>
              <a:t>ANSWER</a:t>
            </a:r>
          </a:p>
        </p:txBody>
      </p:sp>
      <p:sp>
        <p:nvSpPr>
          <p:cNvPr id="13" name="TextBox 12"/>
          <p:cNvSpPr txBox="1"/>
          <p:nvPr/>
        </p:nvSpPr>
        <p:spPr>
          <a:xfrm>
            <a:off x="2679192" y="2633472"/>
            <a:ext cx="274320" cy="320040"/>
          </a:xfrm>
          <a:prstGeom prst="rect">
            <a:avLst/>
          </a:prstGeom>
          <a:noFill/>
        </p:spPr>
        <p:txBody>
          <a:bodyPr wrap="square" lIns="45720" rIns="45720" anchor="t">
            <a:spAutoFit/>
          </a:bodyPr>
          <a:lstStyle/>
          <a:p>
            <a:pPr algn="ctr">
              <a:defRPr sz="2300" b="1">
                <a:solidFill>
                  <a:srgbClr val="48D1CC"/>
                </a:solidFill>
                <a:latin typeface="Aptos"/>
              </a:defRPr>
            </a:pPr>
            <a:r>
              <a:t>→</a:t>
            </a:r>
          </a:p>
        </p:txBody>
      </p:sp>
      <p:sp>
        <p:nvSpPr>
          <p:cNvPr id="14" name="TextBox 13"/>
          <p:cNvSpPr txBox="1"/>
          <p:nvPr/>
        </p:nvSpPr>
        <p:spPr>
          <a:xfrm>
            <a:off x="5148072" y="2633472"/>
            <a:ext cx="274320" cy="320040"/>
          </a:xfrm>
          <a:prstGeom prst="rect">
            <a:avLst/>
          </a:prstGeom>
          <a:noFill/>
        </p:spPr>
        <p:txBody>
          <a:bodyPr wrap="square" lIns="45720" rIns="45720" anchor="t">
            <a:spAutoFit/>
          </a:bodyPr>
          <a:lstStyle/>
          <a:p>
            <a:pPr algn="ctr">
              <a:defRPr sz="2300" b="1">
                <a:solidFill>
                  <a:srgbClr val="48D1CC"/>
                </a:solidFill>
                <a:latin typeface="Aptos"/>
              </a:defRPr>
            </a:pPr>
            <a:r>
              <a:t>→</a:t>
            </a:r>
          </a:p>
        </p:txBody>
      </p:sp>
      <p:sp>
        <p:nvSpPr>
          <p:cNvPr id="15" name="TextBox 14"/>
          <p:cNvSpPr txBox="1"/>
          <p:nvPr/>
        </p:nvSpPr>
        <p:spPr>
          <a:xfrm>
            <a:off x="7616952" y="2633472"/>
            <a:ext cx="274320" cy="320040"/>
          </a:xfrm>
          <a:prstGeom prst="rect">
            <a:avLst/>
          </a:prstGeom>
          <a:noFill/>
        </p:spPr>
        <p:txBody>
          <a:bodyPr wrap="square" lIns="45720" rIns="45720" anchor="t">
            <a:spAutoFit/>
          </a:bodyPr>
          <a:lstStyle/>
          <a:p>
            <a:pPr algn="ctr">
              <a:defRPr sz="2300" b="1">
                <a:solidFill>
                  <a:srgbClr val="48D1CC"/>
                </a:solidFill>
                <a:latin typeface="Aptos"/>
              </a:defRPr>
            </a:pPr>
            <a:r>
              <a:t>→</a:t>
            </a:r>
          </a:p>
        </p:txBody>
      </p:sp>
      <p:sp>
        <p:nvSpPr>
          <p:cNvPr id="16" name="Rounded Rectangle 15"/>
          <p:cNvSpPr/>
          <p:nvPr/>
        </p:nvSpPr>
        <p:spPr>
          <a:xfrm>
            <a:off x="777240" y="3977639"/>
            <a:ext cx="5074920"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3977639"/>
            <a:ext cx="73152" cy="1371600"/>
          </a:xfrm>
          <a:prstGeom prst="rect">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4160520"/>
            <a:ext cx="4709159" cy="365760"/>
          </a:xfrm>
          <a:prstGeom prst="rect">
            <a:avLst/>
          </a:prstGeom>
          <a:noFill/>
        </p:spPr>
        <p:txBody>
          <a:bodyPr wrap="square" lIns="45720" rIns="45720" anchor="t">
            <a:spAutoFit/>
          </a:bodyPr>
          <a:lstStyle/>
          <a:p>
            <a:pPr>
              <a:defRPr sz="1700" b="1">
                <a:solidFill>
                  <a:srgbClr val="FFFFFF"/>
                </a:solidFill>
                <a:latin typeface="Aptos"/>
              </a:defRPr>
            </a:pPr>
            <a:r>
              <a:t>WHY IT HELPS</a:t>
            </a:r>
          </a:p>
        </p:txBody>
      </p:sp>
      <p:sp>
        <p:nvSpPr>
          <p:cNvPr id="19" name="TextBox 18"/>
          <p:cNvSpPr txBox="1"/>
          <p:nvPr/>
        </p:nvSpPr>
        <p:spPr>
          <a:xfrm>
            <a:off x="978408" y="4636007"/>
            <a:ext cx="4690872" cy="621792"/>
          </a:xfrm>
          <a:prstGeom prst="rect">
            <a:avLst/>
          </a:prstGeom>
          <a:noFill/>
        </p:spPr>
        <p:txBody>
          <a:bodyPr wrap="square" lIns="45720" rIns="45720" anchor="t">
            <a:spAutoFit/>
          </a:bodyPr>
          <a:lstStyle/>
          <a:p>
            <a:pPr>
              <a:defRPr sz="1500" b="0">
                <a:solidFill>
                  <a:srgbClr val="CBD5E1"/>
                </a:solidFill>
                <a:latin typeface="Aptos"/>
              </a:defRPr>
            </a:pPr>
            <a:r>
              <a:t>Uses relevant external information, such as current policies or reports.</a:t>
            </a:r>
          </a:p>
        </p:txBody>
      </p:sp>
      <p:sp>
        <p:nvSpPr>
          <p:cNvPr id="20" name="Rounded Rectangle 19"/>
          <p:cNvSpPr/>
          <p:nvPr/>
        </p:nvSpPr>
        <p:spPr>
          <a:xfrm>
            <a:off x="6263640" y="3977639"/>
            <a:ext cx="5074920"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977639"/>
            <a:ext cx="73152"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7" y="4160520"/>
            <a:ext cx="4709159" cy="365760"/>
          </a:xfrm>
          <a:prstGeom prst="rect">
            <a:avLst/>
          </a:prstGeom>
          <a:noFill/>
        </p:spPr>
        <p:txBody>
          <a:bodyPr wrap="square" lIns="45720" rIns="45720" anchor="t">
            <a:spAutoFit/>
          </a:bodyPr>
          <a:lstStyle/>
          <a:p>
            <a:pPr>
              <a:defRPr sz="1700" b="1">
                <a:solidFill>
                  <a:srgbClr val="FFFFFF"/>
                </a:solidFill>
                <a:latin typeface="Aptos"/>
              </a:defRPr>
            </a:pPr>
            <a:r>
              <a:t>WHAT IT DOESN’T GUARANTEE</a:t>
            </a:r>
          </a:p>
        </p:txBody>
      </p:sp>
      <p:sp>
        <p:nvSpPr>
          <p:cNvPr id="23" name="TextBox 22"/>
          <p:cNvSpPr txBox="1"/>
          <p:nvPr/>
        </p:nvSpPr>
        <p:spPr>
          <a:xfrm>
            <a:off x="6464807" y="4636007"/>
            <a:ext cx="4690872" cy="621792"/>
          </a:xfrm>
          <a:prstGeom prst="rect">
            <a:avLst/>
          </a:prstGeom>
          <a:noFill/>
        </p:spPr>
        <p:txBody>
          <a:bodyPr wrap="square" lIns="45720" rIns="45720" anchor="t">
            <a:spAutoFit/>
          </a:bodyPr>
          <a:lstStyle/>
          <a:p>
            <a:pPr>
              <a:defRPr sz="1500" b="0">
                <a:solidFill>
                  <a:srgbClr val="CBD5E1"/>
                </a:solidFill>
                <a:latin typeface="Aptos"/>
              </a:defRPr>
            </a:pPr>
            <a:r>
              <a:t>Retrieved information can still be incomplete, outdated, or misinterpreted.</a:t>
            </a:r>
          </a:p>
        </p:txBody>
      </p:sp>
      <p:sp>
        <p:nvSpPr>
          <p:cNvPr id="24" name="TextBox 23"/>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25" name="TextBox 24"/>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04 / 07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789920" cy="228600"/>
          </a:xfrm>
          <a:prstGeom prst="rect">
            <a:avLst/>
          </a:prstGeom>
          <a:noFill/>
        </p:spPr>
        <p:txBody>
          <a:bodyPr wrap="square" lIns="45720" rIns="45720" anchor="t">
            <a:spAutoFit/>
          </a:bodyPr>
          <a:lstStyle/>
          <a:p>
            <a:pPr>
              <a:defRPr sz="1000" b="1">
                <a:solidFill>
                  <a:srgbClr val="48D1CC"/>
                </a:solidFill>
                <a:latin typeface="Aptos"/>
              </a:defRPr>
            </a:pPr>
            <a:r>
              <a:t>04 • FROM ANSWERS TO ACTIONS</a:t>
            </a:r>
          </a:p>
        </p:txBody>
      </p:sp>
      <p:sp>
        <p:nvSpPr>
          <p:cNvPr id="3" name="TextBox 2"/>
          <p:cNvSpPr txBox="1"/>
          <p:nvPr/>
        </p:nvSpPr>
        <p:spPr>
          <a:xfrm>
            <a:off x="640080" y="713232"/>
            <a:ext cx="10972800" cy="640080"/>
          </a:xfrm>
          <a:prstGeom prst="rect">
            <a:avLst/>
          </a:prstGeom>
          <a:noFill/>
        </p:spPr>
        <p:txBody>
          <a:bodyPr wrap="square" lIns="45720" rIns="45720" anchor="t">
            <a:spAutoFit/>
          </a:bodyPr>
          <a:lstStyle/>
          <a:p>
            <a:pPr>
              <a:defRPr sz="2900" b="1">
                <a:solidFill>
                  <a:srgbClr val="FFFFFF"/>
                </a:solidFill>
                <a:latin typeface="Aptos"/>
              </a:defRPr>
            </a:pPr>
            <a:r>
              <a:t>AI agents &amp; MCP</a:t>
            </a:r>
          </a:p>
        </p:txBody>
      </p:sp>
      <p:sp>
        <p:nvSpPr>
          <p:cNvPr id="4" name="TextBox 3"/>
          <p:cNvSpPr txBox="1"/>
          <p:nvPr/>
        </p:nvSpPr>
        <p:spPr>
          <a:xfrm>
            <a:off x="658368" y="1389888"/>
            <a:ext cx="10607040" cy="411480"/>
          </a:xfrm>
          <a:prstGeom prst="rect">
            <a:avLst/>
          </a:prstGeom>
          <a:noFill/>
        </p:spPr>
        <p:txBody>
          <a:bodyPr wrap="square" lIns="45720" rIns="45720" anchor="t">
            <a:spAutoFit/>
          </a:bodyPr>
          <a:lstStyle/>
          <a:p>
            <a:pPr>
              <a:defRPr sz="1400" b="0">
                <a:solidFill>
                  <a:srgbClr val="CBD5E1"/>
                </a:solidFill>
                <a:latin typeface="Aptos"/>
              </a:defRPr>
            </a:pPr>
            <a:r>
              <a:t>Analogy: hands and feet—and a standard way to connect to tools.</a:t>
            </a:r>
          </a:p>
        </p:txBody>
      </p:sp>
      <p:sp>
        <p:nvSpPr>
          <p:cNvPr id="5" name="Rounded Rectangle 4"/>
          <p:cNvSpPr/>
          <p:nvPr/>
        </p:nvSpPr>
        <p:spPr>
          <a:xfrm>
            <a:off x="685800" y="2057400"/>
            <a:ext cx="5257800" cy="30175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057400"/>
            <a:ext cx="73152" cy="3017520"/>
          </a:xfrm>
          <a:prstGeom prst="rect">
            <a:avLst/>
          </a:prstGeom>
          <a:solidFill>
            <a:srgbClr val="0F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240280"/>
            <a:ext cx="4892040" cy="365760"/>
          </a:xfrm>
          <a:prstGeom prst="rect">
            <a:avLst/>
          </a:prstGeom>
          <a:noFill/>
        </p:spPr>
        <p:txBody>
          <a:bodyPr wrap="square" lIns="45720" rIns="45720" anchor="t">
            <a:spAutoFit/>
          </a:bodyPr>
          <a:lstStyle/>
          <a:p>
            <a:pPr>
              <a:defRPr sz="1700" b="1">
                <a:solidFill>
                  <a:srgbClr val="FFFFFF"/>
                </a:solidFill>
                <a:latin typeface="Aptos"/>
              </a:defRPr>
            </a:pPr>
            <a:r>
              <a:t>AI AGENT = DOER</a:t>
            </a:r>
          </a:p>
        </p:txBody>
      </p:sp>
      <p:sp>
        <p:nvSpPr>
          <p:cNvPr id="8" name="TextBox 7"/>
          <p:cNvSpPr txBox="1"/>
          <p:nvPr/>
        </p:nvSpPr>
        <p:spPr>
          <a:xfrm>
            <a:off x="886968" y="2715768"/>
            <a:ext cx="4873752" cy="2267712"/>
          </a:xfrm>
          <a:prstGeom prst="rect">
            <a:avLst/>
          </a:prstGeom>
          <a:noFill/>
        </p:spPr>
        <p:txBody>
          <a:bodyPr wrap="square" lIns="45720" rIns="45720" anchor="t">
            <a:spAutoFit/>
          </a:bodyPr>
          <a:lstStyle/>
          <a:p>
            <a:pPr>
              <a:defRPr sz="1700" b="0">
                <a:solidFill>
                  <a:srgbClr val="CBD5E1"/>
                </a:solidFill>
                <a:latin typeface="Aptos"/>
              </a:defRPr>
            </a:pPr>
            <a:r>
              <a:t>An agent can plan steps, choose tools, and act toward a goal within its permissions.</a:t>
            </a:r>
            <a:br/>
            <a:br/>
            <a:r>
              <a:t>Example: query sales data → calculate changes → draft a report.</a:t>
            </a:r>
          </a:p>
        </p:txBody>
      </p:sp>
      <p:sp>
        <p:nvSpPr>
          <p:cNvPr id="9" name="Rounded Rectangle 8"/>
          <p:cNvSpPr/>
          <p:nvPr/>
        </p:nvSpPr>
        <p:spPr>
          <a:xfrm>
            <a:off x="6217920" y="2057400"/>
            <a:ext cx="5257800" cy="30175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2057400"/>
            <a:ext cx="73152" cy="3017520"/>
          </a:xfrm>
          <a:prstGeom prst="rect">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40280"/>
            <a:ext cx="4892040" cy="365760"/>
          </a:xfrm>
          <a:prstGeom prst="rect">
            <a:avLst/>
          </a:prstGeom>
          <a:noFill/>
        </p:spPr>
        <p:txBody>
          <a:bodyPr wrap="square" lIns="45720" rIns="45720" anchor="t">
            <a:spAutoFit/>
          </a:bodyPr>
          <a:lstStyle/>
          <a:p>
            <a:pPr>
              <a:defRPr sz="1700" b="1">
                <a:solidFill>
                  <a:srgbClr val="FFFFFF"/>
                </a:solidFill>
                <a:latin typeface="Aptos"/>
              </a:defRPr>
            </a:pPr>
            <a:r>
              <a:t>MCP = TOOL-CONNECTION STANDARD</a:t>
            </a:r>
          </a:p>
        </p:txBody>
      </p:sp>
      <p:sp>
        <p:nvSpPr>
          <p:cNvPr id="12" name="TextBox 11"/>
          <p:cNvSpPr txBox="1"/>
          <p:nvPr/>
        </p:nvSpPr>
        <p:spPr>
          <a:xfrm>
            <a:off x="6419088" y="2715768"/>
            <a:ext cx="4873752" cy="2267712"/>
          </a:xfrm>
          <a:prstGeom prst="rect">
            <a:avLst/>
          </a:prstGeom>
          <a:noFill/>
        </p:spPr>
        <p:txBody>
          <a:bodyPr wrap="square" lIns="45720" rIns="45720" anchor="t">
            <a:spAutoFit/>
          </a:bodyPr>
          <a:lstStyle/>
          <a:p>
            <a:pPr>
              <a:defRPr sz="1600" b="0">
                <a:solidFill>
                  <a:srgbClr val="CBD5E1"/>
                </a:solidFill>
                <a:latin typeface="Aptos"/>
              </a:defRPr>
            </a:pPr>
            <a:r>
              <a:t>Model Context Protocol (MCP) is a standard for connecting AI applications to external tools and data sources.</a:t>
            </a:r>
            <a:br/>
            <a:br/>
            <a:r>
              <a:t>MCP provides a connection pattern; it does not itself guarantee safe or correct actions.</a:t>
            </a:r>
          </a:p>
        </p:txBody>
      </p:sp>
      <p:sp>
        <p:nvSpPr>
          <p:cNvPr id="13" name="TextBox 12"/>
          <p:cNvSpPr txBox="1"/>
          <p:nvPr/>
        </p:nvSpPr>
        <p:spPr>
          <a:xfrm>
            <a:off x="822960" y="5440680"/>
            <a:ext cx="10515600" cy="457200"/>
          </a:xfrm>
          <a:prstGeom prst="rect">
            <a:avLst/>
          </a:prstGeom>
          <a:noFill/>
        </p:spPr>
        <p:txBody>
          <a:bodyPr wrap="square" lIns="45720" rIns="45720" anchor="t">
            <a:spAutoFit/>
          </a:bodyPr>
          <a:lstStyle/>
          <a:p>
            <a:pPr>
              <a:defRPr sz="1700" b="1">
                <a:solidFill>
                  <a:srgbClr val="FFFFFF"/>
                </a:solidFill>
                <a:latin typeface="Aptos"/>
              </a:defRPr>
            </a:pPr>
            <a:r>
              <a:t>Key distinction: an agent decides or coordinates what to do; MCP helps make tools available to the application.</a:t>
            </a:r>
          </a:p>
        </p:txBody>
      </p:sp>
      <p:sp>
        <p:nvSpPr>
          <p:cNvPr id="14" name="TextBox 13"/>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15" name="TextBox 14"/>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05 / 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789920" cy="228600"/>
          </a:xfrm>
          <a:prstGeom prst="rect">
            <a:avLst/>
          </a:prstGeom>
          <a:noFill/>
        </p:spPr>
        <p:txBody>
          <a:bodyPr wrap="square" lIns="45720" rIns="45720" anchor="t">
            <a:spAutoFit/>
          </a:bodyPr>
          <a:lstStyle/>
          <a:p>
            <a:pPr>
              <a:defRPr sz="1000" b="1">
                <a:solidFill>
                  <a:srgbClr val="48D1CC"/>
                </a:solidFill>
                <a:latin typeface="Aptos"/>
              </a:defRPr>
            </a:pPr>
            <a:r>
              <a:t>05 • INSTRUCTIONS &amp; SAFETY</a:t>
            </a:r>
          </a:p>
        </p:txBody>
      </p:sp>
      <p:sp>
        <p:nvSpPr>
          <p:cNvPr id="3" name="TextBox 2"/>
          <p:cNvSpPr txBox="1"/>
          <p:nvPr/>
        </p:nvSpPr>
        <p:spPr>
          <a:xfrm>
            <a:off x="640080" y="713232"/>
            <a:ext cx="10972800" cy="640080"/>
          </a:xfrm>
          <a:prstGeom prst="rect">
            <a:avLst/>
          </a:prstGeom>
          <a:noFill/>
        </p:spPr>
        <p:txBody>
          <a:bodyPr wrap="square" lIns="45720" rIns="45720" anchor="t">
            <a:spAutoFit/>
          </a:bodyPr>
          <a:lstStyle/>
          <a:p>
            <a:pPr>
              <a:defRPr sz="2900" b="1">
                <a:solidFill>
                  <a:srgbClr val="FFFFFF"/>
                </a:solidFill>
                <a:latin typeface="Aptos"/>
              </a:defRPr>
            </a:pPr>
            <a:r>
              <a:t>System prompts guide behavior—but are not a security wall</a:t>
            </a:r>
          </a:p>
        </p:txBody>
      </p:sp>
      <p:sp>
        <p:nvSpPr>
          <p:cNvPr id="4" name="TextBox 3"/>
          <p:cNvSpPr txBox="1"/>
          <p:nvPr/>
        </p:nvSpPr>
        <p:spPr>
          <a:xfrm>
            <a:off x="658368" y="1389888"/>
            <a:ext cx="10607040" cy="411480"/>
          </a:xfrm>
          <a:prstGeom prst="rect">
            <a:avLst/>
          </a:prstGeom>
          <a:noFill/>
        </p:spPr>
        <p:txBody>
          <a:bodyPr wrap="square" lIns="45720" rIns="45720" anchor="t">
            <a:spAutoFit/>
          </a:bodyPr>
          <a:lstStyle/>
          <a:p>
            <a:pPr>
              <a:defRPr sz="1400" b="0">
                <a:solidFill>
                  <a:srgbClr val="CBD5E1"/>
                </a:solidFill>
                <a:latin typeface="Aptos"/>
              </a:defRPr>
            </a:pPr>
            <a:r>
              <a:t>Analogy: a role description and operating rules.</a:t>
            </a:r>
          </a:p>
        </p:txBody>
      </p:sp>
      <p:sp>
        <p:nvSpPr>
          <p:cNvPr id="5" name="Rounded Rectangle 4"/>
          <p:cNvSpPr/>
          <p:nvPr/>
        </p:nvSpPr>
        <p:spPr>
          <a:xfrm>
            <a:off x="685800" y="2011680"/>
            <a:ext cx="5257800" cy="25603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011680"/>
            <a:ext cx="73152" cy="2560320"/>
          </a:xfrm>
          <a:prstGeom prst="rect">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194560"/>
            <a:ext cx="4892040" cy="365760"/>
          </a:xfrm>
          <a:prstGeom prst="rect">
            <a:avLst/>
          </a:prstGeom>
          <a:noFill/>
        </p:spPr>
        <p:txBody>
          <a:bodyPr wrap="square" lIns="45720" rIns="45720" anchor="t">
            <a:spAutoFit/>
          </a:bodyPr>
          <a:lstStyle/>
          <a:p>
            <a:pPr>
              <a:defRPr sz="1700" b="1">
                <a:solidFill>
                  <a:srgbClr val="FFFFFF"/>
                </a:solidFill>
                <a:latin typeface="Aptos"/>
              </a:defRPr>
            </a:pPr>
            <a:r>
              <a:t>SYSTEM PROMPT</a:t>
            </a:r>
          </a:p>
        </p:txBody>
      </p:sp>
      <p:sp>
        <p:nvSpPr>
          <p:cNvPr id="8" name="TextBox 7"/>
          <p:cNvSpPr txBox="1"/>
          <p:nvPr/>
        </p:nvSpPr>
        <p:spPr>
          <a:xfrm>
            <a:off x="886968" y="2670048"/>
            <a:ext cx="4873752" cy="1810512"/>
          </a:xfrm>
          <a:prstGeom prst="rect">
            <a:avLst/>
          </a:prstGeom>
          <a:noFill/>
        </p:spPr>
        <p:txBody>
          <a:bodyPr wrap="square" lIns="45720" rIns="45720" anchor="t">
            <a:spAutoFit/>
          </a:bodyPr>
          <a:lstStyle/>
          <a:p>
            <a:pPr>
              <a:defRPr sz="1700" b="0">
                <a:solidFill>
                  <a:srgbClr val="CBD5E1"/>
                </a:solidFill>
                <a:latin typeface="Aptos"/>
              </a:defRPr>
            </a:pPr>
            <a:r>
              <a:t>Sets the assistant’s role, priorities, style, and constraints.</a:t>
            </a:r>
            <a:br/>
            <a:br/>
            <a:r>
              <a:t>Example: “Use only approved sales data. If evidence is missing, say so.”</a:t>
            </a:r>
          </a:p>
        </p:txBody>
      </p:sp>
      <p:sp>
        <p:nvSpPr>
          <p:cNvPr id="9" name="Rounded Rectangle 8"/>
          <p:cNvSpPr/>
          <p:nvPr/>
        </p:nvSpPr>
        <p:spPr>
          <a:xfrm>
            <a:off x="6217920" y="2011680"/>
            <a:ext cx="5257800" cy="25603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2011680"/>
            <a:ext cx="73152" cy="2560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194560"/>
            <a:ext cx="4892040" cy="365760"/>
          </a:xfrm>
          <a:prstGeom prst="rect">
            <a:avLst/>
          </a:prstGeom>
          <a:noFill/>
        </p:spPr>
        <p:txBody>
          <a:bodyPr wrap="square" lIns="45720" rIns="45720" anchor="t">
            <a:spAutoFit/>
          </a:bodyPr>
          <a:lstStyle/>
          <a:p>
            <a:pPr>
              <a:defRPr sz="1700" b="1">
                <a:solidFill>
                  <a:srgbClr val="FFFFFF"/>
                </a:solidFill>
                <a:latin typeface="Aptos"/>
              </a:defRPr>
            </a:pPr>
            <a:r>
              <a:t>PROMPT INJECTION</a:t>
            </a:r>
          </a:p>
        </p:txBody>
      </p:sp>
      <p:sp>
        <p:nvSpPr>
          <p:cNvPr id="12" name="TextBox 11"/>
          <p:cNvSpPr txBox="1"/>
          <p:nvPr/>
        </p:nvSpPr>
        <p:spPr>
          <a:xfrm>
            <a:off x="6419088" y="2670048"/>
            <a:ext cx="4873752" cy="1810512"/>
          </a:xfrm>
          <a:prstGeom prst="rect">
            <a:avLst/>
          </a:prstGeom>
          <a:noFill/>
        </p:spPr>
        <p:txBody>
          <a:bodyPr wrap="square" lIns="45720" rIns="45720" anchor="t">
            <a:spAutoFit/>
          </a:bodyPr>
          <a:lstStyle/>
          <a:p>
            <a:pPr>
              <a:defRPr sz="1600" b="0">
                <a:solidFill>
                  <a:srgbClr val="CBD5E1"/>
                </a:solidFill>
                <a:latin typeface="Aptos"/>
              </a:defRPr>
            </a:pPr>
            <a:r>
              <a:t>An attacker may try to override instructions or manipulate the system through untrusted input.</a:t>
            </a:r>
            <a:br/>
            <a:br/>
            <a:r>
              <a:t>Mitigations require layered controls—not just a better prompt.</a:t>
            </a:r>
          </a:p>
        </p:txBody>
      </p:sp>
      <p:sp>
        <p:nvSpPr>
          <p:cNvPr id="13" name="TextBox 12"/>
          <p:cNvSpPr txBox="1"/>
          <p:nvPr/>
        </p:nvSpPr>
        <p:spPr>
          <a:xfrm>
            <a:off x="868680" y="5074920"/>
            <a:ext cx="10424160" cy="594360"/>
          </a:xfrm>
          <a:prstGeom prst="rect">
            <a:avLst/>
          </a:prstGeom>
          <a:noFill/>
        </p:spPr>
        <p:txBody>
          <a:bodyPr wrap="square" lIns="45720" rIns="45720" anchor="t">
            <a:spAutoFit/>
          </a:bodyPr>
          <a:lstStyle/>
          <a:p>
            <a:pPr>
              <a:defRPr sz="1800" b="1">
                <a:solidFill>
                  <a:srgbClr val="FFFFFF"/>
                </a:solidFill>
                <a:latin typeface="Aptos"/>
              </a:defRPr>
            </a:pPr>
            <a:r>
              <a:t>Practical rule: limit permissions, validate tool inputs, protect sensitive data, and check important outputs.</a:t>
            </a:r>
          </a:p>
        </p:txBody>
      </p:sp>
      <p:sp>
        <p:nvSpPr>
          <p:cNvPr id="14" name="TextBox 13"/>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15" name="TextBox 14"/>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06 / 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789920" cy="228600"/>
          </a:xfrm>
          <a:prstGeom prst="rect">
            <a:avLst/>
          </a:prstGeom>
          <a:noFill/>
        </p:spPr>
        <p:txBody>
          <a:bodyPr wrap="square" lIns="45720" rIns="45720" anchor="t">
            <a:spAutoFit/>
          </a:bodyPr>
          <a:lstStyle/>
          <a:p>
            <a:pPr>
              <a:defRPr sz="1000" b="1">
                <a:solidFill>
                  <a:srgbClr val="48D1CC"/>
                </a:solidFill>
                <a:latin typeface="Aptos"/>
              </a:defRPr>
            </a:pPr>
            <a:r>
              <a:t>06 • PUT IT TOGETHER</a:t>
            </a:r>
          </a:p>
        </p:txBody>
      </p:sp>
      <p:sp>
        <p:nvSpPr>
          <p:cNvPr id="3" name="TextBox 2"/>
          <p:cNvSpPr txBox="1"/>
          <p:nvPr/>
        </p:nvSpPr>
        <p:spPr>
          <a:xfrm>
            <a:off x="640080" y="713232"/>
            <a:ext cx="10972800" cy="640080"/>
          </a:xfrm>
          <a:prstGeom prst="rect">
            <a:avLst/>
          </a:prstGeom>
          <a:noFill/>
        </p:spPr>
        <p:txBody>
          <a:bodyPr wrap="square" lIns="45720" rIns="45720" anchor="t">
            <a:spAutoFit/>
          </a:bodyPr>
          <a:lstStyle/>
          <a:p>
            <a:pPr>
              <a:defRPr sz="2900" b="1">
                <a:solidFill>
                  <a:srgbClr val="FFFFFF"/>
                </a:solidFill>
                <a:latin typeface="Aptos"/>
              </a:defRPr>
            </a:pPr>
            <a:r>
              <a:t>One business question. Six concepts.</a:t>
            </a:r>
          </a:p>
        </p:txBody>
      </p:sp>
      <p:sp>
        <p:nvSpPr>
          <p:cNvPr id="4" name="TextBox 3"/>
          <p:cNvSpPr txBox="1"/>
          <p:nvPr/>
        </p:nvSpPr>
        <p:spPr>
          <a:xfrm>
            <a:off x="658368" y="1389888"/>
            <a:ext cx="10607040" cy="411480"/>
          </a:xfrm>
          <a:prstGeom prst="rect">
            <a:avLst/>
          </a:prstGeom>
          <a:noFill/>
        </p:spPr>
        <p:txBody>
          <a:bodyPr wrap="square" lIns="45720" rIns="45720" anchor="t">
            <a:spAutoFit/>
          </a:bodyPr>
          <a:lstStyle/>
          <a:p>
            <a:pPr>
              <a:defRPr sz="1400" b="0">
                <a:solidFill>
                  <a:srgbClr val="CBD5E1"/>
                </a:solidFill>
                <a:latin typeface="Aptos"/>
              </a:defRPr>
            </a:pPr>
            <a:r>
              <a:t>Scenario: “Why did sales fall last month, and what should we do next?”</a:t>
            </a:r>
          </a:p>
        </p:txBody>
      </p:sp>
      <p:sp>
        <p:nvSpPr>
          <p:cNvPr id="5" name="Rounded Rectangle 4"/>
          <p:cNvSpPr/>
          <p:nvPr/>
        </p:nvSpPr>
        <p:spPr>
          <a:xfrm>
            <a:off x="685800" y="1965960"/>
            <a:ext cx="3429000" cy="1325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965960"/>
            <a:ext cx="73152" cy="1325880"/>
          </a:xfrm>
          <a:prstGeom prst="rect">
            <a:avLst/>
          </a:prstGeom>
          <a:solidFill>
            <a:srgbClr val="0F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148840"/>
            <a:ext cx="3063240" cy="365760"/>
          </a:xfrm>
          <a:prstGeom prst="rect">
            <a:avLst/>
          </a:prstGeom>
          <a:noFill/>
        </p:spPr>
        <p:txBody>
          <a:bodyPr wrap="square" lIns="45720" rIns="45720" anchor="t">
            <a:spAutoFit/>
          </a:bodyPr>
          <a:lstStyle/>
          <a:p>
            <a:pPr>
              <a:defRPr sz="1700" b="1">
                <a:solidFill>
                  <a:srgbClr val="FFFFFF"/>
                </a:solidFill>
                <a:latin typeface="Aptos"/>
              </a:defRPr>
            </a:pPr>
            <a:r>
              <a:t>LLM</a:t>
            </a:r>
          </a:p>
        </p:txBody>
      </p:sp>
      <p:sp>
        <p:nvSpPr>
          <p:cNvPr id="8" name="TextBox 7"/>
          <p:cNvSpPr txBox="1"/>
          <p:nvPr/>
        </p:nvSpPr>
        <p:spPr>
          <a:xfrm>
            <a:off x="886968" y="2624328"/>
            <a:ext cx="3044952" cy="576072"/>
          </a:xfrm>
          <a:prstGeom prst="rect">
            <a:avLst/>
          </a:prstGeom>
          <a:noFill/>
        </p:spPr>
        <p:txBody>
          <a:bodyPr wrap="square" lIns="45720" rIns="45720" anchor="t">
            <a:spAutoFit/>
          </a:bodyPr>
          <a:lstStyle/>
          <a:p>
            <a:pPr>
              <a:defRPr sz="1300" b="0">
                <a:solidFill>
                  <a:srgbClr val="CBD5E1"/>
                </a:solidFill>
                <a:latin typeface="Aptos"/>
              </a:defRPr>
            </a:pPr>
            <a:r>
              <a:t>Interprets the question</a:t>
            </a:r>
          </a:p>
        </p:txBody>
      </p:sp>
      <p:sp>
        <p:nvSpPr>
          <p:cNvPr id="9" name="Rounded Rectangle 8"/>
          <p:cNvSpPr/>
          <p:nvPr/>
        </p:nvSpPr>
        <p:spPr>
          <a:xfrm>
            <a:off x="4370832" y="1965960"/>
            <a:ext cx="3429000" cy="1325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832" y="1965960"/>
            <a:ext cx="73152" cy="1325880"/>
          </a:xfrm>
          <a:prstGeom prst="rect">
            <a:avLst/>
          </a:prstGeom>
          <a:solidFill>
            <a:srgbClr val="48D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2148840"/>
            <a:ext cx="3063240" cy="365760"/>
          </a:xfrm>
          <a:prstGeom prst="rect">
            <a:avLst/>
          </a:prstGeom>
          <a:noFill/>
        </p:spPr>
        <p:txBody>
          <a:bodyPr wrap="square" lIns="45720" rIns="45720" anchor="t">
            <a:spAutoFit/>
          </a:bodyPr>
          <a:lstStyle/>
          <a:p>
            <a:pPr>
              <a:defRPr sz="1700" b="1">
                <a:solidFill>
                  <a:srgbClr val="FFFFFF"/>
                </a:solidFill>
                <a:latin typeface="Aptos"/>
              </a:defRPr>
            </a:pPr>
            <a:r>
              <a:t>TRAINING</a:t>
            </a:r>
          </a:p>
        </p:txBody>
      </p:sp>
      <p:sp>
        <p:nvSpPr>
          <p:cNvPr id="12" name="TextBox 11"/>
          <p:cNvSpPr txBox="1"/>
          <p:nvPr/>
        </p:nvSpPr>
        <p:spPr>
          <a:xfrm>
            <a:off x="4572000" y="2624328"/>
            <a:ext cx="3044952" cy="576072"/>
          </a:xfrm>
          <a:prstGeom prst="rect">
            <a:avLst/>
          </a:prstGeom>
          <a:noFill/>
        </p:spPr>
        <p:txBody>
          <a:bodyPr wrap="square" lIns="45720" rIns="45720" anchor="t">
            <a:spAutoFit/>
          </a:bodyPr>
          <a:lstStyle/>
          <a:p>
            <a:pPr>
              <a:defRPr sz="1300" b="0">
                <a:solidFill>
                  <a:srgbClr val="CBD5E1"/>
                </a:solidFill>
                <a:latin typeface="Aptos"/>
              </a:defRPr>
            </a:pPr>
            <a:r>
              <a:t>Provides learned capabilities</a:t>
            </a:r>
          </a:p>
        </p:txBody>
      </p:sp>
      <p:sp>
        <p:nvSpPr>
          <p:cNvPr id="13" name="Rounded Rectangle 12"/>
          <p:cNvSpPr/>
          <p:nvPr/>
        </p:nvSpPr>
        <p:spPr>
          <a:xfrm>
            <a:off x="8055864" y="1965960"/>
            <a:ext cx="3429000" cy="1325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55864" y="1965960"/>
            <a:ext cx="73152" cy="13258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2148840"/>
            <a:ext cx="3063240" cy="365760"/>
          </a:xfrm>
          <a:prstGeom prst="rect">
            <a:avLst/>
          </a:prstGeom>
          <a:noFill/>
        </p:spPr>
        <p:txBody>
          <a:bodyPr wrap="square" lIns="45720" rIns="45720" anchor="t">
            <a:spAutoFit/>
          </a:bodyPr>
          <a:lstStyle/>
          <a:p>
            <a:pPr>
              <a:defRPr sz="1700" b="1">
                <a:solidFill>
                  <a:srgbClr val="FFFFFF"/>
                </a:solidFill>
                <a:latin typeface="Aptos"/>
              </a:defRPr>
            </a:pPr>
            <a:r>
              <a:t>RAG</a:t>
            </a:r>
          </a:p>
        </p:txBody>
      </p:sp>
      <p:sp>
        <p:nvSpPr>
          <p:cNvPr id="16" name="TextBox 15"/>
          <p:cNvSpPr txBox="1"/>
          <p:nvPr/>
        </p:nvSpPr>
        <p:spPr>
          <a:xfrm>
            <a:off x="8257032" y="2624328"/>
            <a:ext cx="3044952" cy="576072"/>
          </a:xfrm>
          <a:prstGeom prst="rect">
            <a:avLst/>
          </a:prstGeom>
          <a:noFill/>
        </p:spPr>
        <p:txBody>
          <a:bodyPr wrap="square" lIns="45720" rIns="45720" anchor="t">
            <a:spAutoFit/>
          </a:bodyPr>
          <a:lstStyle/>
          <a:p>
            <a:pPr>
              <a:defRPr sz="1300" b="0">
                <a:solidFill>
                  <a:srgbClr val="CBD5E1"/>
                </a:solidFill>
                <a:latin typeface="Aptos"/>
              </a:defRPr>
            </a:pPr>
            <a:r>
              <a:t>Finds current sales reports</a:t>
            </a:r>
          </a:p>
        </p:txBody>
      </p:sp>
      <p:sp>
        <p:nvSpPr>
          <p:cNvPr id="17" name="Rounded Rectangle 16"/>
          <p:cNvSpPr/>
          <p:nvPr/>
        </p:nvSpPr>
        <p:spPr>
          <a:xfrm>
            <a:off x="685800" y="3657600"/>
            <a:ext cx="3429000" cy="1325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 y="3657600"/>
            <a:ext cx="73152" cy="1325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6968" y="3840480"/>
            <a:ext cx="3063240" cy="365760"/>
          </a:xfrm>
          <a:prstGeom prst="rect">
            <a:avLst/>
          </a:prstGeom>
          <a:noFill/>
        </p:spPr>
        <p:txBody>
          <a:bodyPr wrap="square" lIns="45720" rIns="45720" anchor="t">
            <a:spAutoFit/>
          </a:bodyPr>
          <a:lstStyle/>
          <a:p>
            <a:pPr>
              <a:defRPr sz="1700" b="1">
                <a:solidFill>
                  <a:srgbClr val="FFFFFF"/>
                </a:solidFill>
                <a:latin typeface="Aptos"/>
              </a:defRPr>
            </a:pPr>
            <a:r>
              <a:t>AGENT</a:t>
            </a:r>
          </a:p>
        </p:txBody>
      </p:sp>
      <p:sp>
        <p:nvSpPr>
          <p:cNvPr id="20" name="TextBox 19"/>
          <p:cNvSpPr txBox="1"/>
          <p:nvPr/>
        </p:nvSpPr>
        <p:spPr>
          <a:xfrm>
            <a:off x="886968" y="4315968"/>
            <a:ext cx="3044952" cy="576072"/>
          </a:xfrm>
          <a:prstGeom prst="rect">
            <a:avLst/>
          </a:prstGeom>
          <a:noFill/>
        </p:spPr>
        <p:txBody>
          <a:bodyPr wrap="square" lIns="45720" rIns="45720" anchor="t">
            <a:spAutoFit/>
          </a:bodyPr>
          <a:lstStyle/>
          <a:p>
            <a:pPr>
              <a:defRPr sz="1300" b="0">
                <a:solidFill>
                  <a:srgbClr val="CBD5E1"/>
                </a:solidFill>
                <a:latin typeface="Aptos"/>
              </a:defRPr>
            </a:pPr>
            <a:r>
              <a:t>Coordinates analysis steps</a:t>
            </a:r>
          </a:p>
        </p:txBody>
      </p:sp>
      <p:sp>
        <p:nvSpPr>
          <p:cNvPr id="21" name="Rounded Rectangle 20"/>
          <p:cNvSpPr/>
          <p:nvPr/>
        </p:nvSpPr>
        <p:spPr>
          <a:xfrm>
            <a:off x="4370832" y="3657600"/>
            <a:ext cx="3429000" cy="1325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70832" y="3657600"/>
            <a:ext cx="73152" cy="1325880"/>
          </a:xfrm>
          <a:prstGeom prst="rect">
            <a:avLst/>
          </a:prstGeom>
          <a:solidFill>
            <a:srgbClr val="0F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3840480"/>
            <a:ext cx="3063240" cy="365760"/>
          </a:xfrm>
          <a:prstGeom prst="rect">
            <a:avLst/>
          </a:prstGeom>
          <a:noFill/>
        </p:spPr>
        <p:txBody>
          <a:bodyPr wrap="square" lIns="45720" rIns="45720" anchor="t">
            <a:spAutoFit/>
          </a:bodyPr>
          <a:lstStyle/>
          <a:p>
            <a:pPr>
              <a:defRPr sz="1700" b="1">
                <a:solidFill>
                  <a:srgbClr val="FFFFFF"/>
                </a:solidFill>
                <a:latin typeface="Aptos"/>
              </a:defRPr>
            </a:pPr>
            <a:r>
              <a:t>MCP</a:t>
            </a:r>
          </a:p>
        </p:txBody>
      </p:sp>
      <p:sp>
        <p:nvSpPr>
          <p:cNvPr id="24" name="TextBox 23"/>
          <p:cNvSpPr txBox="1"/>
          <p:nvPr/>
        </p:nvSpPr>
        <p:spPr>
          <a:xfrm>
            <a:off x="4572000" y="4315968"/>
            <a:ext cx="3044952" cy="576072"/>
          </a:xfrm>
          <a:prstGeom prst="rect">
            <a:avLst/>
          </a:prstGeom>
          <a:noFill/>
        </p:spPr>
        <p:txBody>
          <a:bodyPr wrap="square" lIns="45720" rIns="45720" anchor="t">
            <a:spAutoFit/>
          </a:bodyPr>
          <a:lstStyle/>
          <a:p>
            <a:pPr>
              <a:defRPr sz="1300" b="0">
                <a:solidFill>
                  <a:srgbClr val="CBD5E1"/>
                </a:solidFill>
                <a:latin typeface="Aptos"/>
              </a:defRPr>
            </a:pPr>
            <a:r>
              <a:t>Connects approved tools</a:t>
            </a:r>
          </a:p>
        </p:txBody>
      </p:sp>
      <p:sp>
        <p:nvSpPr>
          <p:cNvPr id="25" name="Rounded Rectangle 24"/>
          <p:cNvSpPr/>
          <p:nvPr/>
        </p:nvSpPr>
        <p:spPr>
          <a:xfrm>
            <a:off x="8055864" y="3657600"/>
            <a:ext cx="3429000" cy="1325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55864" y="3657600"/>
            <a:ext cx="73152" cy="13258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7032" y="3840480"/>
            <a:ext cx="3063240" cy="365760"/>
          </a:xfrm>
          <a:prstGeom prst="rect">
            <a:avLst/>
          </a:prstGeom>
          <a:noFill/>
        </p:spPr>
        <p:txBody>
          <a:bodyPr wrap="square" lIns="45720" rIns="45720" anchor="t">
            <a:spAutoFit/>
          </a:bodyPr>
          <a:lstStyle/>
          <a:p>
            <a:pPr>
              <a:defRPr sz="1700" b="1">
                <a:solidFill>
                  <a:srgbClr val="FFFFFF"/>
                </a:solidFill>
                <a:latin typeface="Aptos"/>
              </a:defRPr>
            </a:pPr>
            <a:r>
              <a:t>SYSTEM PROMPT</a:t>
            </a:r>
          </a:p>
        </p:txBody>
      </p:sp>
      <p:sp>
        <p:nvSpPr>
          <p:cNvPr id="28" name="TextBox 27"/>
          <p:cNvSpPr txBox="1"/>
          <p:nvPr/>
        </p:nvSpPr>
        <p:spPr>
          <a:xfrm>
            <a:off x="8257032" y="4315968"/>
            <a:ext cx="3044952" cy="576072"/>
          </a:xfrm>
          <a:prstGeom prst="rect">
            <a:avLst/>
          </a:prstGeom>
          <a:noFill/>
        </p:spPr>
        <p:txBody>
          <a:bodyPr wrap="square" lIns="45720" rIns="45720" anchor="t">
            <a:spAutoFit/>
          </a:bodyPr>
          <a:lstStyle/>
          <a:p>
            <a:pPr>
              <a:defRPr sz="1300" b="0">
                <a:solidFill>
                  <a:srgbClr val="CBD5E1"/>
                </a:solidFill>
                <a:latin typeface="Aptos"/>
              </a:defRPr>
            </a:pPr>
            <a:r>
              <a:t>Sets rules and boundaries</a:t>
            </a:r>
          </a:p>
        </p:txBody>
      </p:sp>
      <p:sp>
        <p:nvSpPr>
          <p:cNvPr id="29" name="TextBox 28"/>
          <p:cNvSpPr txBox="1"/>
          <p:nvPr/>
        </p:nvSpPr>
        <p:spPr>
          <a:xfrm>
            <a:off x="822960" y="5440680"/>
            <a:ext cx="10607040" cy="502920"/>
          </a:xfrm>
          <a:prstGeom prst="rect">
            <a:avLst/>
          </a:prstGeom>
          <a:noFill/>
        </p:spPr>
        <p:txBody>
          <a:bodyPr wrap="square" lIns="45720" rIns="45720" anchor="t">
            <a:spAutoFit/>
          </a:bodyPr>
          <a:lstStyle/>
          <a:p>
            <a:pPr>
              <a:defRPr sz="1700" b="1">
                <a:solidFill>
                  <a:srgbClr val="FFFFFF"/>
                </a:solidFill>
                <a:latin typeface="Aptos"/>
              </a:defRPr>
            </a:pPr>
            <a:r>
              <a:t>Takeaway: useful AI depends on the model, the information it can access, the tools it can use, and the controls around it.</a:t>
            </a:r>
          </a:p>
        </p:txBody>
      </p:sp>
      <p:sp>
        <p:nvSpPr>
          <p:cNvPr id="30" name="TextBox 29"/>
          <p:cNvSpPr txBox="1"/>
          <p:nvPr/>
        </p:nvSpPr>
        <p:spPr>
          <a:xfrm>
            <a:off x="731520" y="6080760"/>
            <a:ext cx="10515600" cy="201168"/>
          </a:xfrm>
          <a:prstGeom prst="rect">
            <a:avLst/>
          </a:prstGeom>
          <a:noFill/>
        </p:spPr>
        <p:txBody>
          <a:bodyPr wrap="square" lIns="45720" rIns="45720" anchor="t">
            <a:spAutoFit/>
          </a:bodyPr>
          <a:lstStyle/>
          <a:p>
            <a:pPr>
              <a:defRPr sz="900" b="0">
                <a:solidFill>
                  <a:srgbClr val="94A3B8"/>
                </a:solidFill>
                <a:latin typeface="Aptos"/>
              </a:defRPr>
            </a:pPr>
            <a:r>
              <a:t>Source: IBM Technology, “AI Simplified: 6 Concepts You Need to Know About Modern AI” • youtube.com/@IBMTechnology</a:t>
            </a:r>
          </a:p>
        </p:txBody>
      </p:sp>
      <p:sp>
        <p:nvSpPr>
          <p:cNvPr id="31" name="TextBox 30"/>
          <p:cNvSpPr txBox="1"/>
          <p:nvPr/>
        </p:nvSpPr>
        <p:spPr>
          <a:xfrm>
            <a:off x="502920" y="6519672"/>
            <a:ext cx="7772400" cy="182880"/>
          </a:xfrm>
          <a:prstGeom prst="rect">
            <a:avLst/>
          </a:prstGeom>
          <a:noFill/>
        </p:spPr>
        <p:txBody>
          <a:bodyPr wrap="square" lIns="45720" rIns="45720" anchor="t">
            <a:spAutoFit/>
          </a:bodyPr>
          <a:lstStyle/>
          <a:p>
            <a:pPr>
              <a:defRPr sz="900" b="0">
                <a:solidFill>
                  <a:srgbClr val="94A3B8"/>
                </a:solidFill>
                <a:latin typeface="Aptos"/>
              </a:defRPr>
            </a:pPr>
            <a:r>
              <a:t>IBM Technology • AI Simplified</a:t>
            </a:r>
          </a:p>
        </p:txBody>
      </p:sp>
      <p:sp>
        <p:nvSpPr>
          <p:cNvPr id="32" name="TextBox 31"/>
          <p:cNvSpPr txBox="1"/>
          <p:nvPr/>
        </p:nvSpPr>
        <p:spPr>
          <a:xfrm>
            <a:off x="11064240" y="6473952"/>
            <a:ext cx="594360" cy="228600"/>
          </a:xfrm>
          <a:prstGeom prst="rect">
            <a:avLst/>
          </a:prstGeom>
          <a:noFill/>
        </p:spPr>
        <p:txBody>
          <a:bodyPr wrap="square" lIns="45720" rIns="45720" anchor="t">
            <a:spAutoFit/>
          </a:bodyPr>
          <a:lstStyle/>
          <a:p>
            <a:pPr algn="r">
              <a:defRPr sz="900" b="0">
                <a:solidFill>
                  <a:srgbClr val="94A3B8"/>
                </a:solidFill>
                <a:latin typeface="Aptos"/>
              </a:defRPr>
            </a:pPr>
            <a: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1288</Words>
  <Application>Microsoft Macintosh PowerPoint</Application>
  <PresentationFormat>宽屏</PresentationFormat>
  <Paragraphs>91</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Modern AI: Six Essential Concepts</dc:title>
  <dc:subject>7-minute mini-lesson based on IBM Technology's AI Simplified video</dc:subject>
  <dc:creator>Student Mini-Lesson</dc:creator>
  <cp:keywords>IBM Think Series, AI, LLM, RAG, AI Agents, MCP, System Prompts, Model Training</cp:keywords>
  <dc:description>generated using python-pptx</dc:description>
  <cp:lastModifiedBy>Guan, Youxuan</cp:lastModifiedBy>
  <cp:revision>1</cp:revision>
  <dcterms:created xsi:type="dcterms:W3CDTF">2013-01-27T09:14:16Z</dcterms:created>
  <dcterms:modified xsi:type="dcterms:W3CDTF">2026-10-19T18:41:04Z</dcterms:modified>
  <cp:category/>
</cp:coreProperties>
</file>